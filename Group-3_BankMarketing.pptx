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3" r:id="rId1"/>
  </p:sldMasterIdLst>
  <p:notesMasterIdLst>
    <p:notesMasterId r:id="rId9"/>
  </p:notesMasterIdLst>
  <p:sldIdLst>
    <p:sldId id="256" r:id="rId2"/>
    <p:sldId id="257" r:id="rId3"/>
    <p:sldId id="258" r:id="rId4"/>
    <p:sldId id="259" r:id="rId5"/>
    <p:sldId id="260" r:id="rId6"/>
    <p:sldId id="261" r:id="rId7"/>
    <p:sldId id="262" r:id="rId8"/>
  </p:sldIdLst>
  <p:sldSz cx="9144000" cy="5143500" type="screen16x9"/>
  <p:notesSz cx="6858000" cy="9144000"/>
  <p:embeddedFontLst>
    <p:embeddedFont>
      <p:font typeface="Calibri" panose="020F0502020204030204" pitchFamily="34" charset="0"/>
      <p:regular r:id="rId10"/>
      <p:bold r:id="rId11"/>
      <p:italic r:id="rId12"/>
      <p:boldItalic r:id="rId13"/>
    </p:embeddedFont>
    <p:embeddedFont>
      <p:font typeface="Century Gothic" panose="020B0502020202020204" pitchFamily="34" charset="0"/>
      <p:regular r:id="rId14"/>
      <p:bold r:id="rId15"/>
      <p:italic r:id="rId16"/>
      <p:boldItalic r:id="rId17"/>
    </p:embeddedFont>
    <p:embeddedFont>
      <p:font typeface="Wingdings 3" panose="05040102010807070707" pitchFamily="18" charset="2"/>
      <p:regular r:id="rId18"/>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font" Target="fonts/font7.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font" Target="fonts/font6.fntdata"/><Relationship Id="rId10" Type="http://schemas.openxmlformats.org/officeDocument/2006/relationships/font" Target="fonts/font1.fntdata"/><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font" Target="fonts/font5.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299dee230d0_0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299dee230d0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299dee230d0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299dee230d0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299dee230d0_0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299dee230d0_0_1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299dee230d0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299dee230d0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299dee230d0_0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99dee230d0_0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299dee230d0_0_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299dee230d0_0_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66216" y="1085850"/>
            <a:ext cx="6619244" cy="2497186"/>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866216" y="3583035"/>
            <a:ext cx="6619244" cy="646065"/>
          </a:xfrm>
        </p:spPr>
        <p:txBody>
          <a:bodyPr anchor="t"/>
          <a:lstStyle>
            <a:lvl1pPr marL="0" indent="0" algn="l">
              <a:buNone/>
              <a:defRPr cap="all">
                <a:solidFill>
                  <a:schemeClr val="bg2">
                    <a:lumMod val="40000"/>
                    <a:lumOff val="60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F2B97B-DC12-435F-B0D8-E521F0790953}" type="datetimeFigureOut">
              <a:rPr lang="en-IN" smtClean="0"/>
              <a:t>12-11-2023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497947723"/>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1DF2B97B-DC12-435F-B0D8-E521F0790953}" type="datetimeFigureOut">
              <a:rPr lang="en-IN" smtClean="0"/>
              <a:t>12-11-2023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422824762"/>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217" y="2146300"/>
            <a:ext cx="6619243" cy="1436735"/>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866216" y="3583036"/>
            <a:ext cx="6619244" cy="645300"/>
          </a:xfrm>
        </p:spPr>
        <p:txBody>
          <a:bodyPr anchor="t"/>
          <a:lstStyle>
            <a:lvl1pPr marL="0" indent="0" algn="l">
              <a:buNone/>
              <a:defRPr sz="1500" cap="all">
                <a:solidFill>
                  <a:schemeClr val="bg2">
                    <a:lumMod val="40000"/>
                    <a:lumOff val="6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F2B97B-DC12-435F-B0D8-E521F0790953}" type="datetimeFigureOut">
              <a:rPr lang="en-IN" smtClean="0"/>
              <a:t>12-11-2023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765073654"/>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27485" y="1545432"/>
            <a:ext cx="3297254" cy="3146822"/>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240870" y="1542069"/>
            <a:ext cx="3297256" cy="315018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F2B97B-DC12-435F-B0D8-E521F0790953}" type="datetimeFigureOut">
              <a:rPr lang="en-IN" smtClean="0"/>
              <a:t>12-11-2023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911274393"/>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27485" y="1428750"/>
            <a:ext cx="3297254"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27485" y="1885950"/>
            <a:ext cx="3297254" cy="280630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240872" y="1428750"/>
            <a:ext cx="3297254"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240872" y="1885950"/>
            <a:ext cx="3297254" cy="280630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F2B97B-DC12-435F-B0D8-E521F0790953}" type="datetimeFigureOut">
              <a:rPr lang="en-IN" smtClean="0"/>
              <a:t>12-11-2023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528029242"/>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1DF2B97B-DC12-435F-B0D8-E521F0790953}" type="datetimeFigureOut">
              <a:rPr lang="en-IN" smtClean="0"/>
              <a:t>12-11-2023</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647842860"/>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1DF2B97B-DC12-435F-B0D8-E521F0790953}" type="datetimeFigureOut">
              <a:rPr lang="en-IN" smtClean="0"/>
              <a:t>12-11-2023</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1672229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5" y="1085850"/>
            <a:ext cx="2550798" cy="1085850"/>
          </a:xfrm>
        </p:spPr>
        <p:txBody>
          <a:bodyPr anchor="b"/>
          <a:lstStyle>
            <a:lvl1pPr algn="l">
              <a:defRPr sz="1800" b="0"/>
            </a:lvl1pPr>
          </a:lstStyle>
          <a:p>
            <a:r>
              <a:rPr lang="en-US"/>
              <a:t>Click to edit Master title style</a:t>
            </a:r>
            <a:endParaRPr lang="en-US" dirty="0"/>
          </a:p>
        </p:txBody>
      </p:sp>
      <p:sp>
        <p:nvSpPr>
          <p:cNvPr id="3" name="Content Placeholder 2"/>
          <p:cNvSpPr>
            <a:spLocks noGrp="1"/>
          </p:cNvSpPr>
          <p:nvPr>
            <p:ph idx="1"/>
          </p:nvPr>
        </p:nvSpPr>
        <p:spPr>
          <a:xfrm>
            <a:off x="3588462" y="1085850"/>
            <a:ext cx="3896998" cy="3429000"/>
          </a:xfrm>
        </p:spPr>
        <p:txBody>
          <a:bodyPr anchor="ctr">
            <a:normAutofit/>
          </a:bodyPr>
          <a:lstStyle>
            <a:lvl1pPr>
              <a:defRPr sz="1500"/>
            </a:lvl1pPr>
            <a:lvl2pPr>
              <a:defRPr sz="1350"/>
            </a:lvl2pPr>
            <a:lvl3pPr>
              <a:defRPr sz="1200"/>
            </a:lvl3pPr>
            <a:lvl4pPr>
              <a:defRPr sz="1050"/>
            </a:lvl4pPr>
            <a:lvl5pPr>
              <a:defRPr sz="1050"/>
            </a:lvl5pPr>
            <a:lvl6pPr>
              <a:defRPr sz="1050"/>
            </a:lvl6pPr>
            <a:lvl7pPr>
              <a:defRPr sz="1050"/>
            </a:lvl7pPr>
            <a:lvl8pPr>
              <a:defRPr sz="1050"/>
            </a:lvl8pPr>
            <a:lvl9pPr>
              <a:defRPr sz="10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6215" y="2346961"/>
            <a:ext cx="2550797" cy="2171699"/>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7" name="Date Placeholder 4"/>
          <p:cNvSpPr>
            <a:spLocks noGrp="1"/>
          </p:cNvSpPr>
          <p:nvPr>
            <p:ph type="dt" sz="half" idx="10"/>
          </p:nvPr>
        </p:nvSpPr>
        <p:spPr/>
        <p:txBody>
          <a:bodyPr/>
          <a:lstStyle/>
          <a:p>
            <a:fld id="{1DF2B97B-DC12-435F-B0D8-E521F0790953}" type="datetimeFigureOut">
              <a:rPr lang="en-IN" smtClean="0"/>
              <a:t>12-11-2023</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55410500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5430" y="1390644"/>
            <a:ext cx="3819680" cy="1181106"/>
          </a:xfrm>
        </p:spPr>
        <p:txBody>
          <a:bodyPr anchor="b">
            <a:normAutofit/>
          </a:bodyPr>
          <a:lstStyle>
            <a:lvl1pPr algn="l">
              <a:defRPr sz="27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212160" y="857250"/>
            <a:ext cx="2400300"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866216" y="2743200"/>
            <a:ext cx="3813734" cy="1028700"/>
          </a:xfrm>
        </p:spPr>
        <p:txBody>
          <a:bodyPr>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1DF2B97B-DC12-435F-B0D8-E521F0790953}" type="datetimeFigureOut">
              <a:rPr lang="en-IN" smtClean="0"/>
              <a:t>12-11-2023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73511935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7" y="3600440"/>
            <a:ext cx="6619243" cy="425054"/>
          </a:xfrm>
        </p:spPr>
        <p:txBody>
          <a:bodyPr anchor="b">
            <a:normAutofit/>
          </a:bodyPr>
          <a:lstStyle>
            <a:lvl1pPr algn="l">
              <a:defRPr sz="1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216" y="514350"/>
            <a:ext cx="6619244" cy="27305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866217" y="4025494"/>
            <a:ext cx="6619242" cy="370284"/>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1DF2B97B-DC12-435F-B0D8-E521F0790953}" type="datetimeFigureOut">
              <a:rPr lang="en-IN" smtClean="0"/>
              <a:t>12-11-2023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428029541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6" y="1085850"/>
            <a:ext cx="6619244" cy="1485900"/>
          </a:xfrm>
        </p:spPr>
        <p:txBody>
          <a:bodyPr/>
          <a:lstStyle>
            <a:lvl1pPr>
              <a:defRPr sz="3600"/>
            </a:lvl1pPr>
          </a:lstStyle>
          <a:p>
            <a:r>
              <a:rPr lang="en-US"/>
              <a:t>Click to edit Master title style</a:t>
            </a:r>
            <a:endParaRPr lang="en-US" dirty="0"/>
          </a:p>
        </p:txBody>
      </p:sp>
      <p:sp>
        <p:nvSpPr>
          <p:cNvPr id="8" name="Text Placeholder 3"/>
          <p:cNvSpPr>
            <a:spLocks noGrp="1"/>
          </p:cNvSpPr>
          <p:nvPr>
            <p:ph type="body" sz="half" idx="2"/>
          </p:nvPr>
        </p:nvSpPr>
        <p:spPr>
          <a:xfrm>
            <a:off x="866216" y="2743200"/>
            <a:ext cx="6619244" cy="1771650"/>
          </a:xfrm>
        </p:spPr>
        <p:txBody>
          <a:bodyPr anchor="ctr">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4" name="Date Placeholder 3"/>
          <p:cNvSpPr>
            <a:spLocks noGrp="1"/>
          </p:cNvSpPr>
          <p:nvPr>
            <p:ph type="dt" sz="half" idx="10"/>
          </p:nvPr>
        </p:nvSpPr>
        <p:spPr/>
        <p:txBody>
          <a:bodyPr/>
          <a:lstStyle/>
          <a:p>
            <a:fld id="{1DF2B97B-DC12-435F-B0D8-E521F0790953}" type="datetimeFigureOut">
              <a:rPr lang="en-IN" smtClean="0"/>
              <a:t>12-11-2023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960940605"/>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81101" y="1085850"/>
            <a:ext cx="5999486" cy="1742531"/>
          </a:xfrm>
        </p:spPr>
        <p:txBody>
          <a:bodyPr/>
          <a:lstStyle>
            <a:lvl1pPr>
              <a:defRPr sz="3600"/>
            </a:lvl1pPr>
          </a:lstStyle>
          <a:p>
            <a:r>
              <a:rPr lang="en-US"/>
              <a:t>Click to edit Master title style</a:t>
            </a:r>
            <a:endParaRPr lang="en-US" dirty="0"/>
          </a:p>
        </p:txBody>
      </p:sp>
      <p:sp>
        <p:nvSpPr>
          <p:cNvPr id="11" name="Text Placeholder 3"/>
          <p:cNvSpPr>
            <a:spLocks noGrp="1"/>
          </p:cNvSpPr>
          <p:nvPr>
            <p:ph type="body" sz="half" idx="14"/>
          </p:nvPr>
        </p:nvSpPr>
        <p:spPr>
          <a:xfrm>
            <a:off x="1447800" y="2828380"/>
            <a:ext cx="5459737" cy="256631"/>
          </a:xfrm>
        </p:spPr>
        <p:txBody>
          <a:bodyPr vert="horz" lIns="91440" tIns="45720" rIns="91440" bIns="45720" rtlCol="0" anchor="t">
            <a:normAutofit/>
          </a:bodyPr>
          <a:lstStyle>
            <a:lvl1pPr marL="0" indent="0">
              <a:buNone/>
              <a:defRPr lang="en-US" sz="1050" b="0" i="0" kern="1200" cap="small" dirty="0">
                <a:solidFill>
                  <a:schemeClr val="bg2">
                    <a:lumMod val="40000"/>
                    <a:lumOff val="60000"/>
                  </a:schemeClr>
                </a:solidFill>
                <a:latin typeface="+mj-lt"/>
                <a:ea typeface="+mj-ea"/>
                <a:cs typeface="+mj-cs"/>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marL="0" lvl="0" indent="0">
              <a:buNone/>
            </a:pPr>
            <a:r>
              <a:rPr lang="en-US"/>
              <a:t>Click to edit Master text styles</a:t>
            </a:r>
          </a:p>
        </p:txBody>
      </p:sp>
      <p:sp>
        <p:nvSpPr>
          <p:cNvPr id="10" name="Text Placeholder 3"/>
          <p:cNvSpPr>
            <a:spLocks noGrp="1"/>
          </p:cNvSpPr>
          <p:nvPr>
            <p:ph type="body" sz="half" idx="2"/>
          </p:nvPr>
        </p:nvSpPr>
        <p:spPr>
          <a:xfrm>
            <a:off x="866216" y="3262993"/>
            <a:ext cx="6619244" cy="1257300"/>
          </a:xfrm>
        </p:spPr>
        <p:txBody>
          <a:bodyPr anchor="ctr">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4" name="Date Placeholder 3"/>
          <p:cNvSpPr>
            <a:spLocks noGrp="1"/>
          </p:cNvSpPr>
          <p:nvPr>
            <p:ph type="dt" sz="half" idx="10"/>
          </p:nvPr>
        </p:nvSpPr>
        <p:spPr/>
        <p:txBody>
          <a:bodyPr/>
          <a:lstStyle/>
          <a:p>
            <a:fld id="{1DF2B97B-DC12-435F-B0D8-E521F0790953}" type="datetimeFigureOut">
              <a:rPr lang="en-IN" smtClean="0"/>
              <a:t>12-11-2023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
        <p:nvSpPr>
          <p:cNvPr id="12" name="TextBox 11"/>
          <p:cNvSpPr txBox="1"/>
          <p:nvPr/>
        </p:nvSpPr>
        <p:spPr>
          <a:xfrm>
            <a:off x="673721" y="728440"/>
            <a:ext cx="601434" cy="1500411"/>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9150" dirty="0"/>
              <a:t>“</a:t>
            </a:r>
          </a:p>
        </p:txBody>
      </p:sp>
      <p:sp>
        <p:nvSpPr>
          <p:cNvPr id="15" name="TextBox 14"/>
          <p:cNvSpPr txBox="1"/>
          <p:nvPr/>
        </p:nvSpPr>
        <p:spPr>
          <a:xfrm>
            <a:off x="6997868" y="1960341"/>
            <a:ext cx="601434" cy="1500411"/>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9150" dirty="0"/>
              <a:t>”</a:t>
            </a:r>
          </a:p>
        </p:txBody>
      </p:sp>
    </p:spTree>
    <p:extLst>
      <p:ext uri="{BB962C8B-B14F-4D97-AF65-F5344CB8AC3E}">
        <p14:creationId xmlns:p14="http://schemas.microsoft.com/office/powerpoint/2010/main" val="2969845455"/>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66216" y="2343151"/>
            <a:ext cx="6619245" cy="1239885"/>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866216" y="3583036"/>
            <a:ext cx="6619244" cy="645300"/>
          </a:xfrm>
        </p:spPr>
        <p:txBody>
          <a:bodyPr anchor="t"/>
          <a:lstStyle>
            <a:lvl1pPr marL="0" indent="0" algn="l">
              <a:buNone/>
              <a:defRPr sz="1500" cap="none">
                <a:solidFill>
                  <a:schemeClr val="bg2">
                    <a:lumMod val="40000"/>
                    <a:lumOff val="6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F2B97B-DC12-435F-B0D8-E521F0790953}" type="datetimeFigureOut">
              <a:rPr lang="en-IN" smtClean="0"/>
              <a:t>12-11-2023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4284623229"/>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150"/>
            </a:lvl1pPr>
          </a:lstStyle>
          <a:p>
            <a:r>
              <a:rPr lang="en-US"/>
              <a:t>Click to edit Master title style</a:t>
            </a:r>
            <a:endParaRPr lang="en-US" dirty="0"/>
          </a:p>
        </p:txBody>
      </p:sp>
      <p:sp>
        <p:nvSpPr>
          <p:cNvPr id="3" name="Text Placeholder 2"/>
          <p:cNvSpPr>
            <a:spLocks noGrp="1"/>
          </p:cNvSpPr>
          <p:nvPr>
            <p:ph type="body" idx="1"/>
          </p:nvPr>
        </p:nvSpPr>
        <p:spPr>
          <a:xfrm>
            <a:off x="474710" y="1485900"/>
            <a:ext cx="2210150"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6" name="Text Placeholder 3"/>
          <p:cNvSpPr>
            <a:spLocks noGrp="1"/>
          </p:cNvSpPr>
          <p:nvPr>
            <p:ph type="body" sz="half" idx="15"/>
          </p:nvPr>
        </p:nvSpPr>
        <p:spPr>
          <a:xfrm>
            <a:off x="489347" y="2000250"/>
            <a:ext cx="2195513"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Text Placeholder 4"/>
          <p:cNvSpPr>
            <a:spLocks noGrp="1"/>
          </p:cNvSpPr>
          <p:nvPr>
            <p:ph type="body" sz="quarter" idx="3"/>
          </p:nvPr>
        </p:nvSpPr>
        <p:spPr>
          <a:xfrm>
            <a:off x="2912745" y="1485900"/>
            <a:ext cx="2202181"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9" name="Text Placeholder 3"/>
          <p:cNvSpPr>
            <a:spLocks noGrp="1"/>
          </p:cNvSpPr>
          <p:nvPr>
            <p:ph type="body" sz="half" idx="16"/>
          </p:nvPr>
        </p:nvSpPr>
        <p:spPr>
          <a:xfrm>
            <a:off x="2904829" y="2000250"/>
            <a:ext cx="2210096"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4" name="Text Placeholder 4"/>
          <p:cNvSpPr>
            <a:spLocks noGrp="1"/>
          </p:cNvSpPr>
          <p:nvPr>
            <p:ph type="body" sz="quarter" idx="13"/>
          </p:nvPr>
        </p:nvSpPr>
        <p:spPr>
          <a:xfrm>
            <a:off x="5343525" y="1485900"/>
            <a:ext cx="2199085"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0" name="Text Placeholder 3"/>
          <p:cNvSpPr>
            <a:spLocks noGrp="1"/>
          </p:cNvSpPr>
          <p:nvPr>
            <p:ph type="body" sz="half" idx="17"/>
          </p:nvPr>
        </p:nvSpPr>
        <p:spPr>
          <a:xfrm>
            <a:off x="5343525" y="2000250"/>
            <a:ext cx="2199085"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cxnSp>
        <p:nvCxnSpPr>
          <p:cNvPr id="17" name="Straight Connector 16"/>
          <p:cNvCxnSpPr/>
          <p:nvPr/>
        </p:nvCxnSpPr>
        <p:spPr>
          <a:xfrm>
            <a:off x="2794607" y="1600200"/>
            <a:ext cx="0" cy="29718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1670" y="1600200"/>
            <a:ext cx="0" cy="297516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DF2B97B-DC12-435F-B0D8-E521F0790953}" type="datetimeFigureOut">
              <a:rPr lang="en-IN" smtClean="0"/>
              <a:t>12-11-2023</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462035877"/>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150"/>
            </a:lvl1pPr>
          </a:lstStyle>
          <a:p>
            <a:r>
              <a:rPr lang="en-US"/>
              <a:t>Click to edit Master title style</a:t>
            </a:r>
            <a:endParaRPr lang="en-US" dirty="0"/>
          </a:p>
        </p:txBody>
      </p:sp>
      <p:sp>
        <p:nvSpPr>
          <p:cNvPr id="3" name="Text Placeholder 2"/>
          <p:cNvSpPr>
            <a:spLocks noGrp="1"/>
          </p:cNvSpPr>
          <p:nvPr>
            <p:ph type="body" idx="1"/>
          </p:nvPr>
        </p:nvSpPr>
        <p:spPr>
          <a:xfrm>
            <a:off x="489347" y="3188212"/>
            <a:ext cx="2205038"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9" name="Picture Placeholder 2"/>
          <p:cNvSpPr>
            <a:spLocks noGrp="1" noChangeAspect="1"/>
          </p:cNvSpPr>
          <p:nvPr>
            <p:ph type="pic" idx="15"/>
          </p:nvPr>
        </p:nvSpPr>
        <p:spPr>
          <a:xfrm>
            <a:off x="489347" y="1657350"/>
            <a:ext cx="2205038"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2" name="Text Placeholder 3"/>
          <p:cNvSpPr>
            <a:spLocks noGrp="1"/>
          </p:cNvSpPr>
          <p:nvPr>
            <p:ph type="body" sz="half" idx="18"/>
          </p:nvPr>
        </p:nvSpPr>
        <p:spPr>
          <a:xfrm>
            <a:off x="489347" y="3620409"/>
            <a:ext cx="2205038"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Text Placeholder 4"/>
          <p:cNvSpPr>
            <a:spLocks noGrp="1"/>
          </p:cNvSpPr>
          <p:nvPr>
            <p:ph type="body" sz="quarter" idx="3"/>
          </p:nvPr>
        </p:nvSpPr>
        <p:spPr>
          <a:xfrm>
            <a:off x="2917032" y="3188212"/>
            <a:ext cx="2197894"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30" name="Picture Placeholder 2"/>
          <p:cNvSpPr>
            <a:spLocks noGrp="1" noChangeAspect="1"/>
          </p:cNvSpPr>
          <p:nvPr>
            <p:ph type="pic" idx="21"/>
          </p:nvPr>
        </p:nvSpPr>
        <p:spPr>
          <a:xfrm>
            <a:off x="2917031" y="1657350"/>
            <a:ext cx="2197894"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3" name="Text Placeholder 3"/>
          <p:cNvSpPr>
            <a:spLocks noGrp="1"/>
          </p:cNvSpPr>
          <p:nvPr>
            <p:ph type="body" sz="half" idx="19"/>
          </p:nvPr>
        </p:nvSpPr>
        <p:spPr>
          <a:xfrm>
            <a:off x="2916016" y="3620408"/>
            <a:ext cx="2200805"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4" name="Text Placeholder 4"/>
          <p:cNvSpPr>
            <a:spLocks noGrp="1"/>
          </p:cNvSpPr>
          <p:nvPr>
            <p:ph type="body" sz="quarter" idx="13"/>
          </p:nvPr>
        </p:nvSpPr>
        <p:spPr>
          <a:xfrm>
            <a:off x="5343525" y="3188212"/>
            <a:ext cx="2199085"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31" name="Picture Placeholder 2"/>
          <p:cNvSpPr>
            <a:spLocks noGrp="1" noChangeAspect="1"/>
          </p:cNvSpPr>
          <p:nvPr>
            <p:ph type="pic" idx="22"/>
          </p:nvPr>
        </p:nvSpPr>
        <p:spPr>
          <a:xfrm>
            <a:off x="5343525" y="1657350"/>
            <a:ext cx="2199085"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4" name="Text Placeholder 3"/>
          <p:cNvSpPr>
            <a:spLocks noGrp="1"/>
          </p:cNvSpPr>
          <p:nvPr>
            <p:ph type="body" sz="half" idx="20"/>
          </p:nvPr>
        </p:nvSpPr>
        <p:spPr>
          <a:xfrm>
            <a:off x="5343432" y="3620406"/>
            <a:ext cx="2201998"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cxnSp>
        <p:nvCxnSpPr>
          <p:cNvPr id="19" name="Straight Connector 18"/>
          <p:cNvCxnSpPr/>
          <p:nvPr/>
        </p:nvCxnSpPr>
        <p:spPr>
          <a:xfrm>
            <a:off x="2794607" y="1600200"/>
            <a:ext cx="0" cy="29718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1670" y="1600200"/>
            <a:ext cx="0" cy="297516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DF2B97B-DC12-435F-B0D8-E521F0790953}" type="datetimeFigureOut">
              <a:rPr lang="en-IN" smtClean="0"/>
              <a:t>12-11-2023</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726396700"/>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F2B97B-DC12-435F-B0D8-E521F0790953}" type="datetimeFigureOut">
              <a:rPr lang="en-IN" smtClean="0"/>
              <a:t>12-11-2023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046771198"/>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8159" y="322660"/>
            <a:ext cx="1314451" cy="4369594"/>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89348" y="665561"/>
            <a:ext cx="5567362" cy="402669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F2B97B-DC12-435F-B0D8-E521F0790953}" type="datetimeFigureOut">
              <a:rPr lang="en-IN" smtClean="0"/>
              <a:t>12-11-2023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070690253"/>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3"/>
        <p:cNvGrpSpPr/>
        <p:nvPr/>
      </p:nvGrpSpPr>
      <p:grpSpPr>
        <a:xfrm>
          <a:off x="0" y="0"/>
          <a:ext cx="0" cy="0"/>
          <a:chOff x="0" y="0"/>
          <a:chExt cx="0" cy="0"/>
        </a:xfrm>
      </p:grpSpPr>
      <p:sp>
        <p:nvSpPr>
          <p:cNvPr id="28" name="Google Shape;28;p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29" name="Google Shape;29;p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0" name="Google Shape;30;p4"/>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15182073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3.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5.png"/><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0">
            <a:extLst>
              <a:ext uri="{28A0092B-C50C-407E-A947-70E740481C1C}">
                <a14:useLocalDpi xmlns:a14="http://schemas.microsoft.com/office/drawing/2010/main" val="0"/>
              </a:ext>
            </a:extLst>
          </a:blip>
          <a:srcRect l="3613"/>
          <a:stretch/>
        </p:blipFill>
        <p:spPr>
          <a:xfrm>
            <a:off x="0" y="2002264"/>
            <a:ext cx="3027759" cy="3141236"/>
          </a:xfrm>
          <a:prstGeom prst="rect">
            <a:avLst/>
          </a:prstGeom>
        </p:spPr>
      </p:pic>
      <p:pic>
        <p:nvPicPr>
          <p:cNvPr id="7" name="Picture 6"/>
          <p:cNvPicPr>
            <a:picLocks noChangeAspect="1"/>
          </p:cNvPicPr>
          <p:nvPr/>
        </p:nvPicPr>
        <p:blipFill rotWithShape="1">
          <a:blip r:embed="rId21">
            <a:extLst>
              <a:ext uri="{28A0092B-C50C-407E-A947-70E740481C1C}">
                <a14:useLocalDpi xmlns:a14="http://schemas.microsoft.com/office/drawing/2010/main" val="0"/>
              </a:ext>
            </a:extLst>
          </a:blip>
          <a:srcRect l="35640"/>
          <a:stretch/>
        </p:blipFill>
        <p:spPr>
          <a:xfrm>
            <a:off x="0" y="2169261"/>
            <a:ext cx="1141809" cy="1774090"/>
          </a:xfrm>
          <a:prstGeom prst="rect">
            <a:avLst/>
          </a:prstGeom>
        </p:spPr>
      </p:pic>
      <p:sp>
        <p:nvSpPr>
          <p:cNvPr id="16" name="Oval 15"/>
          <p:cNvSpPr/>
          <p:nvPr/>
        </p:nvSpPr>
        <p:spPr>
          <a:xfrm>
            <a:off x="6456759" y="1257300"/>
            <a:ext cx="2114550" cy="211455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2">
            <a:extLst>
              <a:ext uri="{28A0092B-C50C-407E-A947-70E740481C1C}">
                <a14:useLocalDpi xmlns:a14="http://schemas.microsoft.com/office/drawing/2010/main" val="0"/>
              </a:ext>
            </a:extLst>
          </a:blip>
          <a:srcRect t="28813"/>
          <a:stretch/>
        </p:blipFill>
        <p:spPr>
          <a:xfrm>
            <a:off x="5999560" y="1"/>
            <a:ext cx="1202540" cy="856055"/>
          </a:xfrm>
          <a:prstGeom prst="rect">
            <a:avLst/>
          </a:prstGeom>
        </p:spPr>
      </p:pic>
      <p:pic>
        <p:nvPicPr>
          <p:cNvPr id="10" name="Picture 9"/>
          <p:cNvPicPr>
            <a:picLocks noChangeAspect="1"/>
          </p:cNvPicPr>
          <p:nvPr/>
        </p:nvPicPr>
        <p:blipFill rotWithShape="1">
          <a:blip r:embed="rId23">
            <a:extLst>
              <a:ext uri="{28A0092B-C50C-407E-A947-70E740481C1C}">
                <a14:useLocalDpi xmlns:a14="http://schemas.microsoft.com/office/drawing/2010/main" val="0"/>
              </a:ext>
            </a:extLst>
          </a:blip>
          <a:srcRect b="23320"/>
          <a:stretch/>
        </p:blipFill>
        <p:spPr>
          <a:xfrm>
            <a:off x="6454408" y="4572000"/>
            <a:ext cx="745301" cy="571500"/>
          </a:xfrm>
          <a:prstGeom prst="rect">
            <a:avLst/>
          </a:prstGeom>
        </p:spPr>
      </p:pic>
      <p:sp>
        <p:nvSpPr>
          <p:cNvPr id="14" name="Rectangle 13"/>
          <p:cNvSpPr/>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484584" y="339538"/>
            <a:ext cx="7053542" cy="1050398"/>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827484" y="1539689"/>
            <a:ext cx="6709906" cy="314661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7616730" y="1343026"/>
            <a:ext cx="742949" cy="228599"/>
          </a:xfrm>
          <a:prstGeom prst="rect">
            <a:avLst/>
          </a:prstGeom>
        </p:spPr>
        <p:txBody>
          <a:bodyPr vert="horz" lIns="91440" tIns="45720" rIns="91440" bIns="45720" rtlCol="0" anchor="t"/>
          <a:lstStyle>
            <a:lvl1pPr algn="l">
              <a:defRPr sz="825" b="0" i="0">
                <a:solidFill>
                  <a:schemeClr val="tx1">
                    <a:tint val="75000"/>
                    <a:alpha val="60000"/>
                  </a:schemeClr>
                </a:solidFill>
              </a:defRPr>
            </a:lvl1pPr>
          </a:lstStyle>
          <a:p>
            <a:fld id="{1DF2B97B-DC12-435F-B0D8-E521F0790953}" type="datetimeFigureOut">
              <a:rPr lang="en-IN" smtClean="0"/>
              <a:t>12-11-2023</a:t>
            </a:fld>
            <a:endParaRPr lang="en-IN"/>
          </a:p>
        </p:txBody>
      </p:sp>
      <p:sp>
        <p:nvSpPr>
          <p:cNvPr id="5" name="Footer Placeholder 4"/>
          <p:cNvSpPr>
            <a:spLocks noGrp="1"/>
          </p:cNvSpPr>
          <p:nvPr>
            <p:ph type="ftr" sz="quarter" idx="3"/>
          </p:nvPr>
        </p:nvSpPr>
        <p:spPr>
          <a:xfrm rot="5400000">
            <a:off x="6713680" y="2418973"/>
            <a:ext cx="2894846" cy="228601"/>
          </a:xfrm>
          <a:prstGeom prst="rect">
            <a:avLst/>
          </a:prstGeom>
        </p:spPr>
        <p:txBody>
          <a:bodyPr vert="horz" lIns="91440" tIns="45720" rIns="91440" bIns="45720" rtlCol="0" anchor="b"/>
          <a:lstStyle>
            <a:lvl1pPr algn="l">
              <a:defRPr sz="825"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7764406" y="221797"/>
            <a:ext cx="628649" cy="575765"/>
          </a:xfrm>
          <a:prstGeom prst="rect">
            <a:avLst/>
          </a:prstGeom>
        </p:spPr>
        <p:txBody>
          <a:bodyPr vert="horz" lIns="91440" tIns="45720" rIns="91440" bIns="45720" rtlCol="0" anchor="b"/>
          <a:lstStyle>
            <a:lvl1pPr algn="ctr">
              <a:defRPr sz="2100" b="0" i="0">
                <a:solidFill>
                  <a:schemeClr val="tx1">
                    <a:tint val="75000"/>
                  </a:schemeClr>
                </a:solidFill>
              </a:defRPr>
            </a:lvl1p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356545113"/>
      </p:ext>
    </p:extLst>
  </p:cSld>
  <p:clrMap bg1="dk1" tx1="lt1" bg2="dk2" tx2="lt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 id="2147483687" r:id="rId14"/>
    <p:sldLayoutId id="2147483688" r:id="rId15"/>
    <p:sldLayoutId id="2147483689" r:id="rId16"/>
    <p:sldLayoutId id="2147483690" r:id="rId17"/>
    <p:sldLayoutId id="2147483691" r:id="rId18"/>
  </p:sldLayoutIdLst>
  <p:hf sldNum="0" hdr="0" ftr="0" dt="0"/>
  <p:txStyles>
    <p:titleStyle>
      <a:lvl1pPr algn="l" defTabSz="342900" rtl="0" eaLnBrk="1" latinLnBrk="0" hangingPunct="1">
        <a:spcBef>
          <a:spcPct val="0"/>
        </a:spcBef>
        <a:buNone/>
        <a:defRPr sz="315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bg2">
            <a:lumMod val="40000"/>
            <a:lumOff val="60000"/>
          </a:schemeClr>
        </a:buClr>
        <a:buSzPct val="80000"/>
        <a:buFont typeface="Wingdings 3" charset="2"/>
        <a:buChar char=""/>
        <a:defRPr sz="1500" b="0" i="0" kern="1200">
          <a:solidFill>
            <a:schemeClr val="tx1"/>
          </a:solidFill>
          <a:latin typeface="+mj-lt"/>
          <a:ea typeface="+mj-ea"/>
          <a:cs typeface="+mj-cs"/>
        </a:defRPr>
      </a:lvl1pPr>
      <a:lvl2pPr marL="557213" indent="-214313" algn="l" defTabSz="342900" rtl="0" eaLnBrk="1" latinLnBrk="0" hangingPunct="1">
        <a:spcBef>
          <a:spcPts val="750"/>
        </a:spcBef>
        <a:spcAft>
          <a:spcPts val="0"/>
        </a:spcAft>
        <a:buClr>
          <a:schemeClr val="bg2">
            <a:lumMod val="40000"/>
            <a:lumOff val="60000"/>
          </a:schemeClr>
        </a:buClr>
        <a:buSzPct val="80000"/>
        <a:buFont typeface="Wingdings 3" charset="2"/>
        <a:buChar char=""/>
        <a:defRPr sz="1350" b="0" i="0" kern="1200">
          <a:solidFill>
            <a:schemeClr val="tx1"/>
          </a:solidFill>
          <a:latin typeface="+mj-lt"/>
          <a:ea typeface="+mj-ea"/>
          <a:cs typeface="+mj-cs"/>
        </a:defRPr>
      </a:lvl2pPr>
      <a:lvl3pPr marL="8572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3pPr>
      <a:lvl4pPr marL="12001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4pPr>
      <a:lvl5pPr marL="15430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5pPr>
      <a:lvl6pPr marL="187950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6pPr>
      <a:lvl7pPr marL="22288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7pPr>
      <a:lvl8pPr marL="25717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8pPr>
      <a:lvl9pPr marL="29146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3"/>
          <p:cNvSpPr txBox="1">
            <a:spLocks noGrp="1"/>
          </p:cNvSpPr>
          <p:nvPr>
            <p:ph type="ctrTitle"/>
          </p:nvPr>
        </p:nvSpPr>
        <p:spPr>
          <a:xfrm>
            <a:off x="142050" y="1368050"/>
            <a:ext cx="8520600" cy="3702038"/>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sz="2500" dirty="0">
                <a:latin typeface="Calibri" panose="020F0502020204030204" pitchFamily="34" charset="0"/>
                <a:ea typeface="Calibri" panose="020F0502020204030204" pitchFamily="34" charset="0"/>
                <a:cs typeface="Calibri" panose="020F0502020204030204" pitchFamily="34" charset="0"/>
              </a:rPr>
              <a:t>Topic- Bank Marketing</a:t>
            </a:r>
            <a:endParaRPr sz="2533" dirty="0">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r>
              <a:rPr lang="en" sz="2533" dirty="0">
                <a:latin typeface="Calibri" panose="020F0502020204030204" pitchFamily="34" charset="0"/>
                <a:ea typeface="Calibri" panose="020F0502020204030204" pitchFamily="34" charset="0"/>
                <a:cs typeface="Calibri" panose="020F0502020204030204" pitchFamily="34" charset="0"/>
              </a:rPr>
              <a:t>Group-3</a:t>
            </a:r>
            <a:endParaRPr sz="2533" dirty="0">
              <a:latin typeface="Calibri" panose="020F0502020204030204" pitchFamily="34" charset="0"/>
              <a:ea typeface="Calibri" panose="020F0502020204030204" pitchFamily="34" charset="0"/>
              <a:cs typeface="Calibri" panose="020F0502020204030204" pitchFamily="34" charset="0"/>
            </a:endParaRPr>
          </a:p>
          <a:p>
            <a:r>
              <a:rPr lang="en" sz="2533" dirty="0">
                <a:latin typeface="Calibri" panose="020F0502020204030204" pitchFamily="34" charset="0"/>
                <a:ea typeface="Calibri" panose="020F0502020204030204" pitchFamily="34" charset="0"/>
                <a:cs typeface="Calibri" panose="020F0502020204030204" pitchFamily="34" charset="0"/>
              </a:rPr>
              <a:t>Group members-</a:t>
            </a:r>
            <a:r>
              <a:rPr lang="en-IN" sz="2800" kern="0" dirty="0">
                <a:effectLst/>
                <a:latin typeface="Calibri" panose="020F0502020204030204" pitchFamily="34" charset="0"/>
                <a:ea typeface="Calibri" panose="020F0502020204030204" pitchFamily="34" charset="0"/>
                <a:cs typeface="Calibri" panose="020F0502020204030204" pitchFamily="34" charset="0"/>
              </a:rPr>
              <a:t> </a:t>
            </a:r>
            <a:br>
              <a:rPr lang="en-IN" sz="2800" kern="0" dirty="0">
                <a:effectLst/>
                <a:latin typeface="Calibri" panose="020F0502020204030204" pitchFamily="34" charset="0"/>
                <a:ea typeface="Calibri" panose="020F0502020204030204" pitchFamily="34" charset="0"/>
                <a:cs typeface="Calibri" panose="020F0502020204030204" pitchFamily="34" charset="0"/>
              </a:rPr>
            </a:br>
            <a:r>
              <a:rPr lang="en-IN" sz="2800" kern="0" dirty="0">
                <a:effectLst/>
                <a:latin typeface="Calibri" panose="020F0502020204030204" pitchFamily="34" charset="0"/>
                <a:ea typeface="Calibri" panose="020F0502020204030204" pitchFamily="34" charset="0"/>
                <a:cs typeface="Calibri" panose="020F0502020204030204" pitchFamily="34" charset="0"/>
              </a:rPr>
              <a:t>							</a:t>
            </a:r>
            <a:r>
              <a:rPr lang="en-US" sz="2000" kern="0" dirty="0">
                <a:effectLst/>
                <a:latin typeface="Calibri" panose="020F0502020204030204" pitchFamily="34" charset="0"/>
                <a:ea typeface="Calibri" panose="020F0502020204030204" pitchFamily="34" charset="0"/>
                <a:cs typeface="Calibri" panose="020F0502020204030204" pitchFamily="34" charset="0"/>
              </a:rPr>
              <a:t>NINITA GEDDAM-G676G373</a:t>
            </a:r>
            <a:br>
              <a:rPr lang="en-US" sz="2000" kern="0" dirty="0">
                <a:effectLst/>
                <a:latin typeface="Calibri" panose="020F0502020204030204" pitchFamily="34" charset="0"/>
                <a:ea typeface="Calibri" panose="020F0502020204030204" pitchFamily="34" charset="0"/>
                <a:cs typeface="Calibri" panose="020F0502020204030204" pitchFamily="34" charset="0"/>
              </a:rPr>
            </a:br>
            <a:r>
              <a:rPr lang="en-US" sz="2000" kern="0" dirty="0">
                <a:effectLst/>
                <a:latin typeface="Calibri" panose="020F0502020204030204" pitchFamily="34" charset="0"/>
                <a:ea typeface="Calibri" panose="020F0502020204030204" pitchFamily="34" charset="0"/>
                <a:cs typeface="Calibri" panose="020F0502020204030204" pitchFamily="34" charset="0"/>
              </a:rPr>
              <a:t>							VIVEK GORANTLA-X249Z878</a:t>
            </a:r>
            <a:br>
              <a:rPr lang="en-IN" sz="2000" kern="100" dirty="0">
                <a:effectLst/>
                <a:latin typeface="Calibri" panose="020F0502020204030204" pitchFamily="34" charset="0"/>
                <a:ea typeface="Calibri" panose="020F0502020204030204" pitchFamily="34" charset="0"/>
                <a:cs typeface="Calibri" panose="020F0502020204030204" pitchFamily="34" charset="0"/>
              </a:rPr>
            </a:br>
            <a:r>
              <a:rPr lang="en-IN" sz="2000" kern="100" dirty="0">
                <a:effectLst/>
                <a:latin typeface="Calibri" panose="020F0502020204030204" pitchFamily="34" charset="0"/>
                <a:ea typeface="Calibri" panose="020F0502020204030204" pitchFamily="34" charset="0"/>
                <a:cs typeface="Calibri" panose="020F0502020204030204" pitchFamily="34" charset="0"/>
              </a:rPr>
              <a:t>							</a:t>
            </a:r>
            <a:r>
              <a:rPr lang="en-US" sz="2000" kern="0" dirty="0">
                <a:effectLst/>
                <a:latin typeface="Calibri" panose="020F0502020204030204" pitchFamily="34" charset="0"/>
                <a:ea typeface="Calibri" panose="020F0502020204030204" pitchFamily="34" charset="0"/>
                <a:cs typeface="Calibri" panose="020F0502020204030204" pitchFamily="34" charset="0"/>
              </a:rPr>
              <a:t>KARTHIK GOUD ERAPURAM-P934S966</a:t>
            </a:r>
            <a:br>
              <a:rPr lang="en-US" sz="2000" kern="0" dirty="0">
                <a:effectLst/>
                <a:latin typeface="Calibri" panose="020F0502020204030204" pitchFamily="34" charset="0"/>
                <a:ea typeface="Calibri" panose="020F0502020204030204" pitchFamily="34" charset="0"/>
                <a:cs typeface="Calibri" panose="020F0502020204030204" pitchFamily="34" charset="0"/>
              </a:rPr>
            </a:br>
            <a:r>
              <a:rPr lang="en-US" sz="2000" kern="0" dirty="0">
                <a:effectLst/>
                <a:latin typeface="Calibri" panose="020F0502020204030204" pitchFamily="34" charset="0"/>
                <a:ea typeface="Calibri" panose="020F0502020204030204" pitchFamily="34" charset="0"/>
                <a:cs typeface="Calibri" panose="020F0502020204030204" pitchFamily="34" charset="0"/>
              </a:rPr>
              <a:t>							AKSHITH KRISHNA JONNALAGADDA-R948H886</a:t>
            </a:r>
            <a:br>
              <a:rPr lang="en-IN" sz="2000" kern="100" dirty="0">
                <a:effectLst/>
                <a:latin typeface="Calibri" panose="020F0502020204030204" pitchFamily="34" charset="0"/>
                <a:ea typeface="Calibri" panose="020F0502020204030204" pitchFamily="34" charset="0"/>
                <a:cs typeface="Calibri" panose="020F0502020204030204" pitchFamily="34" charset="0"/>
              </a:rPr>
            </a:br>
            <a:br>
              <a:rPr lang="en-IN" sz="2000" kern="100" dirty="0">
                <a:effectLst/>
                <a:latin typeface="Calibri" panose="020F0502020204030204" pitchFamily="34" charset="0"/>
                <a:ea typeface="Calibri" panose="020F0502020204030204" pitchFamily="34" charset="0"/>
                <a:cs typeface="Calibri" panose="020F0502020204030204" pitchFamily="34" charset="0"/>
              </a:rPr>
            </a:br>
            <a:br>
              <a:rPr lang="en-IN" sz="2000" kern="100" dirty="0">
                <a:effectLst/>
                <a:latin typeface="Calibri" panose="020F0502020204030204" pitchFamily="34" charset="0"/>
                <a:ea typeface="Calibri" panose="020F0502020204030204" pitchFamily="34" charset="0"/>
                <a:cs typeface="Calibri" panose="020F0502020204030204" pitchFamily="34" charset="0"/>
              </a:rPr>
            </a:br>
            <a:br>
              <a:rPr lang="en-IN" sz="2000" kern="100" dirty="0">
                <a:effectLst/>
                <a:latin typeface="Calibri" panose="020F0502020204030204" pitchFamily="34" charset="0"/>
                <a:ea typeface="Calibri" panose="020F0502020204030204" pitchFamily="34" charset="0"/>
                <a:cs typeface="Calibri" panose="020F0502020204030204" pitchFamily="34" charset="0"/>
              </a:rPr>
            </a:br>
            <a:br>
              <a:rPr lang="en-IN" sz="2000" kern="100" dirty="0">
                <a:effectLst/>
                <a:latin typeface="Calibri" panose="020F0502020204030204" pitchFamily="34" charset="0"/>
                <a:ea typeface="Calibri" panose="020F0502020204030204" pitchFamily="34" charset="0"/>
                <a:cs typeface="Calibri" panose="020F0502020204030204" pitchFamily="34" charset="0"/>
              </a:rPr>
            </a:br>
            <a:br>
              <a:rPr lang="en-US" sz="2000" kern="0" dirty="0">
                <a:effectLst/>
                <a:latin typeface="Calibri" panose="020F0502020204030204" pitchFamily="34" charset="0"/>
                <a:ea typeface="Calibri" panose="020F0502020204030204" pitchFamily="34" charset="0"/>
                <a:cs typeface="Calibri" panose="020F0502020204030204" pitchFamily="34" charset="0"/>
              </a:rPr>
            </a:br>
            <a:br>
              <a:rPr lang="en-US" sz="2000" kern="0" dirty="0">
                <a:effectLst/>
                <a:latin typeface="Calibri" panose="020F0502020204030204" pitchFamily="34" charset="0"/>
                <a:ea typeface="Calibri" panose="020F0502020204030204" pitchFamily="34" charset="0"/>
                <a:cs typeface="Calibri" panose="020F0502020204030204" pitchFamily="34" charset="0"/>
              </a:rPr>
            </a:br>
            <a:br>
              <a:rPr lang="en-US" sz="2800" kern="0" dirty="0">
                <a:effectLst/>
                <a:latin typeface="Calibri" panose="020F0502020204030204" pitchFamily="34" charset="0"/>
                <a:ea typeface="Calibri" panose="020F0502020204030204" pitchFamily="34" charset="0"/>
                <a:cs typeface="Calibri" panose="020F0502020204030204" pitchFamily="34" charset="0"/>
              </a:rPr>
            </a:br>
            <a:br>
              <a:rPr lang="en-US" sz="2800" kern="0" dirty="0">
                <a:effectLst/>
                <a:latin typeface="Calibri" panose="020F0502020204030204" pitchFamily="34" charset="0"/>
                <a:ea typeface="Calibri" panose="020F0502020204030204" pitchFamily="34" charset="0"/>
                <a:cs typeface="Calibri" panose="020F0502020204030204" pitchFamily="34" charset="0"/>
              </a:rPr>
            </a:br>
            <a:br>
              <a:rPr lang="en-IN" sz="2800" kern="100" dirty="0">
                <a:effectLst/>
                <a:latin typeface="Calibri" panose="020F0502020204030204" pitchFamily="34" charset="0"/>
                <a:ea typeface="Calibri" panose="020F0502020204030204" pitchFamily="34" charset="0"/>
                <a:cs typeface="Calibri" panose="020F0502020204030204" pitchFamily="34" charset="0"/>
              </a:rPr>
            </a:br>
            <a:br>
              <a:rPr lang="en-IN" sz="2800" kern="100" dirty="0">
                <a:effectLst/>
                <a:latin typeface="Calibri" panose="020F0502020204030204" pitchFamily="34" charset="0"/>
                <a:ea typeface="Calibri" panose="020F0502020204030204" pitchFamily="34" charset="0"/>
                <a:cs typeface="Calibri" panose="020F0502020204030204" pitchFamily="34" charset="0"/>
              </a:rPr>
            </a:br>
            <a:br>
              <a:rPr lang="en" sz="2533" dirty="0">
                <a:latin typeface="Calibri" panose="020F0502020204030204" pitchFamily="34" charset="0"/>
                <a:ea typeface="Calibri" panose="020F0502020204030204" pitchFamily="34" charset="0"/>
                <a:cs typeface="Calibri" panose="020F0502020204030204" pitchFamily="34" charset="0"/>
              </a:rPr>
            </a:br>
            <a:endParaRPr sz="2533" dirty="0">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endParaRPr sz="2533" dirty="0">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endParaRPr sz="2533" dirty="0">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endParaRPr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4"/>
          <p:cNvSpPr txBox="1">
            <a:spLocks noGrp="1"/>
          </p:cNvSpPr>
          <p:nvPr>
            <p:ph type="title"/>
          </p:nvPr>
        </p:nvSpPr>
        <p:spPr>
          <a:xfrm>
            <a:off x="199200" y="604475"/>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latin typeface="Calibri" panose="020F0502020204030204" pitchFamily="34" charset="0"/>
                <a:ea typeface="Calibri" panose="020F0502020204030204" pitchFamily="34" charset="0"/>
                <a:cs typeface="Calibri" panose="020F0502020204030204" pitchFamily="34" charset="0"/>
              </a:rPr>
              <a:t>Title and Introduction</a:t>
            </a:r>
            <a:endParaRPr dirty="0">
              <a:latin typeface="Calibri" panose="020F0502020204030204" pitchFamily="34" charset="0"/>
              <a:ea typeface="Calibri" panose="020F0502020204030204" pitchFamily="34" charset="0"/>
              <a:cs typeface="Calibri" panose="020F0502020204030204" pitchFamily="34" charset="0"/>
            </a:endParaRPr>
          </a:p>
        </p:txBody>
      </p:sp>
      <p:sp>
        <p:nvSpPr>
          <p:cNvPr id="92" name="Google Shape;92;p14"/>
          <p:cNvSpPr txBox="1">
            <a:spLocks noGrp="1"/>
          </p:cNvSpPr>
          <p:nvPr>
            <p:ph type="body" idx="1"/>
          </p:nvPr>
        </p:nvSpPr>
        <p:spPr>
          <a:xfrm>
            <a:off x="199200" y="1255650"/>
            <a:ext cx="8700600" cy="366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latin typeface="Calibri" panose="020F0502020204030204" pitchFamily="34" charset="0"/>
                <a:ea typeface="Calibri" panose="020F0502020204030204" pitchFamily="34" charset="0"/>
                <a:cs typeface="Calibri" panose="020F0502020204030204" pitchFamily="34" charset="0"/>
              </a:rPr>
              <a:t>Our project title is Bank Marketing.</a:t>
            </a:r>
          </a:p>
          <a:p>
            <a:pPr marL="0" lvl="0" indent="0" algn="l" rtl="0">
              <a:spcBef>
                <a:spcPts val="0"/>
              </a:spcBef>
              <a:spcAft>
                <a:spcPts val="0"/>
              </a:spcAft>
              <a:buNone/>
            </a:pPr>
            <a:endParaRPr lang="en" dirty="0">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r>
              <a:rPr lang="en" dirty="0">
                <a:latin typeface="Calibri" panose="020F0502020204030204" pitchFamily="34" charset="0"/>
                <a:ea typeface="Calibri" panose="020F0502020204030204" pitchFamily="34" charset="0"/>
                <a:cs typeface="Calibri" panose="020F0502020204030204" pitchFamily="34" charset="0"/>
              </a:rPr>
              <a:t>Introduction:</a:t>
            </a:r>
          </a:p>
          <a:p>
            <a:pPr marL="0" lvl="0" indent="0" algn="l" rtl="0">
              <a:spcBef>
                <a:spcPts val="0"/>
              </a:spcBef>
              <a:spcAft>
                <a:spcPts val="0"/>
              </a:spcAft>
              <a:buNone/>
            </a:pPr>
            <a:endParaRPr lang="en-IN" dirty="0"/>
          </a:p>
          <a:p>
            <a:pPr marL="285750" indent="-285750" algn="just">
              <a:buFont typeface="Arial" panose="020B0604020202020204" pitchFamily="34" charset="0"/>
              <a:buChar char="•"/>
            </a:pPr>
            <a:r>
              <a:rPr lang="en-US" b="0" i="0" dirty="0">
                <a:effectLst/>
                <a:latin typeface="Calibri" panose="020F0502020204030204" pitchFamily="34" charset="0"/>
                <a:ea typeface="Calibri" panose="020F0502020204030204" pitchFamily="34" charset="0"/>
                <a:cs typeface="Calibri" panose="020F0502020204030204" pitchFamily="34" charset="0"/>
              </a:rPr>
              <a:t>In the rapidly evolving banking sector, leveraging data analytics is key to understanding customer behaviors and preferences.</a:t>
            </a:r>
          </a:p>
          <a:p>
            <a:pPr marL="285750" indent="-285750" algn="just">
              <a:buFont typeface="Arial" panose="020B0604020202020204" pitchFamily="34" charset="0"/>
              <a:buChar char="•"/>
            </a:pPr>
            <a:r>
              <a:rPr lang="en-US" b="0" i="0" dirty="0">
                <a:effectLst/>
                <a:latin typeface="Calibri" panose="020F0502020204030204" pitchFamily="34" charset="0"/>
                <a:ea typeface="Calibri" panose="020F0502020204030204" pitchFamily="34" charset="0"/>
                <a:cs typeface="Calibri" panose="020F0502020204030204" pitchFamily="34" charset="0"/>
              </a:rPr>
              <a:t>Our project aims to analyze customer data to predict responses to banking campaigns, providing insights for strategic decision-making.</a:t>
            </a:r>
          </a:p>
          <a:p>
            <a:pPr marL="285750" indent="-285750" algn="just">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The bank has various outreach plans to sell term deposits to their customers such as email marketing, advertisements, telephonic marketing, and digital marketing.</a:t>
            </a:r>
          </a:p>
          <a:p>
            <a:pPr marL="285750" indent="-285750" algn="just">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Telephonic marketing campaigns still remain one of the most effective ways to reach out to people. However, they require huge investment as large call centers are hired to actually execute these campaigns. Hence, it is crucial to identify the customers most likely to convert beforehand so that they can be specifically targeted via call.</a:t>
            </a:r>
            <a:endParaRPr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5"/>
          <p:cNvSpPr txBox="1">
            <a:spLocks noGrp="1"/>
          </p:cNvSpPr>
          <p:nvPr>
            <p:ph type="title"/>
          </p:nvPr>
        </p:nvSpPr>
        <p:spPr>
          <a:xfrm>
            <a:off x="220400" y="544475"/>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latin typeface="Calibri" panose="020F0502020204030204" pitchFamily="34" charset="0"/>
                <a:ea typeface="Calibri" panose="020F0502020204030204" pitchFamily="34" charset="0"/>
                <a:cs typeface="Calibri" panose="020F0502020204030204" pitchFamily="34" charset="0"/>
              </a:rPr>
              <a:t>Background</a:t>
            </a:r>
            <a:endParaRPr dirty="0">
              <a:latin typeface="Calibri" panose="020F0502020204030204" pitchFamily="34" charset="0"/>
              <a:ea typeface="Calibri" panose="020F0502020204030204" pitchFamily="34" charset="0"/>
              <a:cs typeface="Calibri" panose="020F0502020204030204" pitchFamily="34" charset="0"/>
            </a:endParaRPr>
          </a:p>
        </p:txBody>
      </p:sp>
      <p:sp>
        <p:nvSpPr>
          <p:cNvPr id="98" name="Google Shape;98;p15"/>
          <p:cNvSpPr txBox="1">
            <a:spLocks noGrp="1"/>
          </p:cNvSpPr>
          <p:nvPr>
            <p:ph type="body" idx="1"/>
          </p:nvPr>
        </p:nvSpPr>
        <p:spPr>
          <a:xfrm>
            <a:off x="383900" y="1170800"/>
            <a:ext cx="8034300" cy="3169200"/>
          </a:xfrm>
          <a:prstGeom prst="rect">
            <a:avLst/>
          </a:prstGeom>
        </p:spPr>
        <p:txBody>
          <a:bodyPr spcFirstLastPara="1" wrap="square" lIns="91425" tIns="91425" rIns="91425" bIns="91425" anchor="t" anchorCtr="0">
            <a:normAutofit fontScale="92500" lnSpcReduction="20000"/>
          </a:bodyPr>
          <a:lstStyle/>
          <a:p>
            <a:pPr marL="0" lvl="0" indent="0" algn="just" rtl="0">
              <a:lnSpc>
                <a:spcPct val="100000"/>
              </a:lnSpc>
              <a:spcBef>
                <a:spcPts val="1200"/>
              </a:spcBef>
              <a:spcAft>
                <a:spcPts val="0"/>
              </a:spcAft>
              <a:buNone/>
            </a:pPr>
            <a:r>
              <a:rPr lang="en-US" dirty="0"/>
              <a:t>Previous Research in Banking Analytics: Researchers have leveraged a multitude of machine learning techniques to evaluate and forecast banking customer engagement and product uptake. For instance, one study utilized a classification algorithm to anticipate account holders' propensity to invest in term deposits, while another applied predictive analytics to gauge the risk associated with loan defaulting. The proliferation of machine learning has also enhanced the capability of banks to convert transactional data into actionable insights, thereby elevating the precision of financial advising and risk assessment.</a:t>
            </a:r>
          </a:p>
          <a:p>
            <a:pPr marL="0" indent="0" algn="just">
              <a:spcBef>
                <a:spcPts val="1200"/>
              </a:spcBef>
              <a:buNone/>
            </a:pPr>
            <a:r>
              <a:rPr lang="en-US" dirty="0"/>
              <a:t>Influential Factors in Customer Banking Decisions: Key determinants that influence a customer's decision in the banking sector include socio-economic status, account balance history, credit usage, and engagement with banking services. Additionally, macroeconomic variables such as interest rates and market trends, as well as personal circumstances like homeownership and employment status, play a crucial role in shaping financial choices and investment propensities.</a:t>
            </a:r>
          </a:p>
          <a:p>
            <a:pPr marL="0" lvl="0" indent="0" algn="l" rtl="0">
              <a:spcBef>
                <a:spcPts val="1200"/>
              </a:spcBef>
              <a:spcAft>
                <a:spcPts val="0"/>
              </a:spcAft>
              <a:buNone/>
            </a:pPr>
            <a:endParaRPr dirty="0"/>
          </a:p>
          <a:p>
            <a:pPr marL="0" lvl="0" indent="0" algn="l" rtl="0">
              <a:spcBef>
                <a:spcPts val="1200"/>
              </a:spcBef>
              <a:spcAft>
                <a:spcPts val="1200"/>
              </a:spcAft>
              <a:buNone/>
            </a:pP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6"/>
          <p:cNvSpPr txBox="1">
            <a:spLocks noGrp="1"/>
          </p:cNvSpPr>
          <p:nvPr>
            <p:ph type="title"/>
          </p:nvPr>
        </p:nvSpPr>
        <p:spPr>
          <a:xfrm>
            <a:off x="241625" y="60810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Hypothesis</a:t>
            </a:r>
            <a:endParaRPr/>
          </a:p>
        </p:txBody>
      </p:sp>
      <p:sp>
        <p:nvSpPr>
          <p:cNvPr id="104" name="Google Shape;104;p16"/>
          <p:cNvSpPr txBox="1">
            <a:spLocks noGrp="1"/>
          </p:cNvSpPr>
          <p:nvPr>
            <p:ph type="body" idx="1"/>
          </p:nvPr>
        </p:nvSpPr>
        <p:spPr>
          <a:xfrm>
            <a:off x="362700" y="1266250"/>
            <a:ext cx="8055600" cy="30738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US" dirty="0"/>
              <a:t>Certain demographic and financial characteristics of clients, such as age, job type, marital status, and account balance, significantly influence their likelihood of subscribing to a term deposit.</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7"/>
          <p:cNvSpPr txBox="1">
            <a:spLocks noGrp="1"/>
          </p:cNvSpPr>
          <p:nvPr>
            <p:ph type="title"/>
          </p:nvPr>
        </p:nvSpPr>
        <p:spPr>
          <a:xfrm>
            <a:off x="231000" y="586875"/>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METHODOLOGY</a:t>
            </a:r>
            <a:endParaRPr/>
          </a:p>
        </p:txBody>
      </p:sp>
      <p:sp>
        <p:nvSpPr>
          <p:cNvPr id="110" name="Google Shape;110;p17"/>
          <p:cNvSpPr txBox="1">
            <a:spLocks noGrp="1"/>
          </p:cNvSpPr>
          <p:nvPr>
            <p:ph type="body" idx="1"/>
          </p:nvPr>
        </p:nvSpPr>
        <p:spPr>
          <a:xfrm>
            <a:off x="299075" y="1276850"/>
            <a:ext cx="8119200" cy="3701100"/>
          </a:xfrm>
          <a:prstGeom prst="rect">
            <a:avLst/>
          </a:prstGeom>
        </p:spPr>
        <p:txBody>
          <a:bodyPr spcFirstLastPara="1" wrap="square" lIns="91425" tIns="91425" rIns="91425" bIns="91425" anchor="t" anchorCtr="0">
            <a:normAutofit/>
          </a:bodyPr>
          <a:lstStyle/>
          <a:p>
            <a:pPr marL="457200" lvl="0" indent="-311150" algn="just" rtl="0">
              <a:spcBef>
                <a:spcPts val="0"/>
              </a:spcBef>
              <a:spcAft>
                <a:spcPts val="0"/>
              </a:spcAft>
              <a:buSzPts val="1300"/>
              <a:buAutoNum type="arabicParenR"/>
            </a:pPr>
            <a:r>
              <a:rPr lang="en" dirty="0">
                <a:latin typeface="Calibri" panose="020F0502020204030204" pitchFamily="34" charset="0"/>
                <a:ea typeface="Calibri" panose="020F0502020204030204" pitchFamily="34" charset="0"/>
                <a:cs typeface="Calibri" panose="020F0502020204030204" pitchFamily="34" charset="0"/>
              </a:rPr>
              <a:t>First we did background research into our topic, decided on our important variables, and then formed a hypothesis.</a:t>
            </a:r>
            <a:endParaRPr dirty="0">
              <a:latin typeface="Calibri" panose="020F0502020204030204" pitchFamily="34" charset="0"/>
              <a:ea typeface="Calibri" panose="020F0502020204030204" pitchFamily="34" charset="0"/>
              <a:cs typeface="Calibri" panose="020F0502020204030204" pitchFamily="34" charset="0"/>
            </a:endParaRPr>
          </a:p>
          <a:p>
            <a:pPr marL="457200" lvl="0" indent="-311150" algn="just" rtl="0">
              <a:spcBef>
                <a:spcPts val="0"/>
              </a:spcBef>
              <a:spcAft>
                <a:spcPts val="0"/>
              </a:spcAft>
              <a:buSzPts val="1300"/>
              <a:buAutoNum type="arabicParenR"/>
            </a:pPr>
            <a:r>
              <a:rPr lang="en" dirty="0">
                <a:latin typeface="Calibri" panose="020F0502020204030204" pitchFamily="34" charset="0"/>
                <a:ea typeface="Calibri" panose="020F0502020204030204" pitchFamily="34" charset="0"/>
                <a:cs typeface="Calibri" panose="020F0502020204030204" pitchFamily="34" charset="0"/>
              </a:rPr>
              <a:t>Exploratory data analysis which we get to know more about our data, distribution of the data, relationship between variables, and any issues with our data(missing data, NULL data, invalid data).</a:t>
            </a:r>
            <a:endParaRPr dirty="0">
              <a:latin typeface="Calibri" panose="020F0502020204030204" pitchFamily="34" charset="0"/>
              <a:ea typeface="Calibri" panose="020F0502020204030204" pitchFamily="34" charset="0"/>
              <a:cs typeface="Calibri" panose="020F0502020204030204" pitchFamily="34" charset="0"/>
            </a:endParaRPr>
          </a:p>
          <a:p>
            <a:pPr marL="457200" lvl="0" indent="-311150" algn="just" rtl="0">
              <a:spcBef>
                <a:spcPts val="0"/>
              </a:spcBef>
              <a:spcAft>
                <a:spcPts val="0"/>
              </a:spcAft>
              <a:buSzPts val="1300"/>
              <a:buAutoNum type="arabicParenR"/>
            </a:pPr>
            <a:r>
              <a:rPr lang="en" dirty="0">
                <a:latin typeface="Calibri" panose="020F0502020204030204" pitchFamily="34" charset="0"/>
                <a:ea typeface="Calibri" panose="020F0502020204030204" pitchFamily="34" charset="0"/>
                <a:cs typeface="Calibri" panose="020F0502020204030204" pitchFamily="34" charset="0"/>
              </a:rPr>
              <a:t>Data cleaning: here we solved issues with our data which were dealing with missing data, NULL data, and invalid data.</a:t>
            </a:r>
            <a:endParaRPr dirty="0">
              <a:latin typeface="Calibri" panose="020F0502020204030204" pitchFamily="34" charset="0"/>
              <a:ea typeface="Calibri" panose="020F0502020204030204" pitchFamily="34" charset="0"/>
              <a:cs typeface="Calibri" panose="020F0502020204030204" pitchFamily="34" charset="0"/>
            </a:endParaRPr>
          </a:p>
          <a:p>
            <a:pPr marL="457200" lvl="0" indent="-311150" algn="just" rtl="0">
              <a:spcBef>
                <a:spcPts val="0"/>
              </a:spcBef>
              <a:spcAft>
                <a:spcPts val="0"/>
              </a:spcAft>
              <a:buSzPts val="1300"/>
              <a:buAutoNum type="arabicParenR"/>
            </a:pPr>
            <a:r>
              <a:rPr lang="en" dirty="0">
                <a:latin typeface="Calibri" panose="020F0502020204030204" pitchFamily="34" charset="0"/>
                <a:ea typeface="Calibri" panose="020F0502020204030204" pitchFamily="34" charset="0"/>
                <a:cs typeface="Calibri" panose="020F0502020204030204" pitchFamily="34" charset="0"/>
              </a:rPr>
              <a:t>Feature engineering</a:t>
            </a:r>
            <a:r>
              <a:rPr lang="en-US" dirty="0">
                <a:latin typeface="Calibri" panose="020F0502020204030204" pitchFamily="34" charset="0"/>
                <a:ea typeface="Calibri" panose="020F0502020204030204" pitchFamily="34" charset="0"/>
                <a:cs typeface="Calibri" panose="020F0502020204030204" pitchFamily="34" charset="0"/>
              </a:rPr>
              <a:t>: interaction metrics to create a composite engagement score, categorize age into ordinal groups, and normalize call duration, enriching the data for nuanced analysis and modeling.</a:t>
            </a:r>
          </a:p>
          <a:p>
            <a:pPr marL="457200" lvl="0" indent="-311150" algn="just" rtl="0">
              <a:spcBef>
                <a:spcPts val="0"/>
              </a:spcBef>
              <a:spcAft>
                <a:spcPts val="0"/>
              </a:spcAft>
              <a:buSzPts val="1300"/>
              <a:buAutoNum type="arabicParenR"/>
            </a:pPr>
            <a:r>
              <a:rPr lang="en" dirty="0">
                <a:latin typeface="Calibri" panose="020F0502020204030204" pitchFamily="34" charset="0"/>
                <a:ea typeface="Calibri" panose="020F0502020204030204" pitchFamily="34" charset="0"/>
                <a:cs typeface="Calibri" panose="020F0502020204030204" pitchFamily="34" charset="0"/>
              </a:rPr>
              <a:t>Machine learning algorithm: </a:t>
            </a:r>
            <a:r>
              <a:rPr lang="en-US" dirty="0">
                <a:latin typeface="Calibri" panose="020F0502020204030204" pitchFamily="34" charset="0"/>
                <a:ea typeface="Calibri" panose="020F0502020204030204" pitchFamily="34" charset="0"/>
                <a:cs typeface="Calibri" panose="020F0502020204030204" pitchFamily="34" charset="0"/>
              </a:rPr>
              <a:t>As our project is on binary classification we used the Random Forest Classifier, as it is robust, handles a mix of numerical and categorical data well, and is less likely to overfit compared to some other models.</a:t>
            </a:r>
            <a:endParaRPr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18"/>
          <p:cNvSpPr txBox="1">
            <a:spLocks noGrp="1"/>
          </p:cNvSpPr>
          <p:nvPr>
            <p:ph type="title"/>
          </p:nvPr>
        </p:nvSpPr>
        <p:spPr>
          <a:xfrm>
            <a:off x="135575" y="565675"/>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Findings</a:t>
            </a:r>
            <a:endParaRPr/>
          </a:p>
        </p:txBody>
      </p:sp>
      <p:sp>
        <p:nvSpPr>
          <p:cNvPr id="116" name="Google Shape;116;p18"/>
          <p:cNvSpPr txBox="1">
            <a:spLocks noGrp="1"/>
          </p:cNvSpPr>
          <p:nvPr>
            <p:ph type="body" idx="1"/>
          </p:nvPr>
        </p:nvSpPr>
        <p:spPr>
          <a:xfrm>
            <a:off x="288450" y="1255650"/>
            <a:ext cx="8129700" cy="3669300"/>
          </a:xfrm>
          <a:prstGeom prst="rect">
            <a:avLst/>
          </a:prstGeom>
        </p:spPr>
        <p:txBody>
          <a:bodyPr spcFirstLastPara="1" wrap="square" lIns="91425" tIns="91425" rIns="91425" bIns="91425" anchor="t" anchorCtr="0">
            <a:normAutofit fontScale="85000" lnSpcReduction="20000"/>
          </a:bodyPr>
          <a:lstStyle/>
          <a:p>
            <a:pPr lvl="0" algn="l" rtl="0">
              <a:spcBef>
                <a:spcPts val="0"/>
              </a:spcBef>
              <a:spcAft>
                <a:spcPts val="0"/>
              </a:spcAft>
              <a:buSzPts val="1300"/>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rPr>
              <a:t>The age of clients ranges from 19 to 87 years, with a mean age of approximately 41 years. This suggests a diverse client base in terms of age.</a:t>
            </a:r>
          </a:p>
          <a:p>
            <a:pPr lvl="0" algn="l" rtl="0">
              <a:spcBef>
                <a:spcPts val="0"/>
              </a:spcBef>
              <a:spcAft>
                <a:spcPts val="0"/>
              </a:spcAft>
              <a:buSzPts val="1300"/>
              <a:buFont typeface="Wingdings" panose="05000000000000000000" pitchFamily="2" charset="2"/>
              <a:buChar char="Ø"/>
            </a:pPr>
            <a:endParaRPr lang="en-US" dirty="0">
              <a:latin typeface="Calibri" panose="020F0502020204030204" pitchFamily="34" charset="0"/>
              <a:ea typeface="Calibri" panose="020F0502020204030204" pitchFamily="34" charset="0"/>
              <a:cs typeface="Calibri" panose="020F0502020204030204" pitchFamily="34" charset="0"/>
            </a:endParaRPr>
          </a:p>
          <a:p>
            <a:pPr lvl="0" algn="l" rtl="0">
              <a:spcBef>
                <a:spcPts val="0"/>
              </a:spcBef>
              <a:spcAft>
                <a:spcPts val="0"/>
              </a:spcAft>
              <a:buSzPts val="1300"/>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rPr>
              <a:t>There are 12 unique job categories represented, with 'management' being the most common job type among clients.</a:t>
            </a:r>
          </a:p>
          <a:p>
            <a:pPr lvl="0" algn="l" rtl="0">
              <a:spcBef>
                <a:spcPts val="0"/>
              </a:spcBef>
              <a:spcAft>
                <a:spcPts val="0"/>
              </a:spcAft>
              <a:buSzPts val="1300"/>
              <a:buFont typeface="Wingdings" panose="05000000000000000000" pitchFamily="2" charset="2"/>
              <a:buChar char="Ø"/>
            </a:pPr>
            <a:endParaRPr lang="en-US" dirty="0">
              <a:latin typeface="Calibri" panose="020F0502020204030204" pitchFamily="34" charset="0"/>
              <a:ea typeface="Calibri" panose="020F0502020204030204" pitchFamily="34" charset="0"/>
              <a:cs typeface="Calibri" panose="020F0502020204030204" pitchFamily="34" charset="0"/>
            </a:endParaRPr>
          </a:p>
          <a:p>
            <a:pPr lvl="0" algn="l" rtl="0">
              <a:spcBef>
                <a:spcPts val="0"/>
              </a:spcBef>
              <a:spcAft>
                <a:spcPts val="0"/>
              </a:spcAft>
              <a:buSzPts val="1300"/>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rPr>
              <a:t>The dataset includes clients who are married, single, or divorced, with 'married' being the most frequent marital status.</a:t>
            </a:r>
          </a:p>
          <a:p>
            <a:pPr lvl="0" algn="l" rtl="0">
              <a:spcBef>
                <a:spcPts val="0"/>
              </a:spcBef>
              <a:spcAft>
                <a:spcPts val="0"/>
              </a:spcAft>
              <a:buSzPts val="1300"/>
              <a:buFont typeface="Wingdings" panose="05000000000000000000" pitchFamily="2" charset="2"/>
              <a:buChar char="Ø"/>
            </a:pPr>
            <a:endParaRPr lang="en-US" dirty="0">
              <a:latin typeface="Calibri" panose="020F0502020204030204" pitchFamily="34" charset="0"/>
              <a:ea typeface="Calibri" panose="020F0502020204030204" pitchFamily="34" charset="0"/>
              <a:cs typeface="Calibri" panose="020F0502020204030204" pitchFamily="34" charset="0"/>
            </a:endParaRPr>
          </a:p>
          <a:p>
            <a:pPr lvl="0" algn="l" rtl="0">
              <a:spcBef>
                <a:spcPts val="0"/>
              </a:spcBef>
              <a:spcAft>
                <a:spcPts val="0"/>
              </a:spcAft>
              <a:buSzPts val="1300"/>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rPr>
              <a:t>Clients have various education levels, including primary, secondary, tertiary, and unknown, with 'secondary' being the most prevalent.</a:t>
            </a:r>
          </a:p>
          <a:p>
            <a:pPr lvl="0" algn="l" rtl="0">
              <a:spcBef>
                <a:spcPts val="0"/>
              </a:spcBef>
              <a:spcAft>
                <a:spcPts val="0"/>
              </a:spcAft>
              <a:buSzPts val="1300"/>
              <a:buFont typeface="Wingdings" panose="05000000000000000000" pitchFamily="2" charset="2"/>
              <a:buChar char="Ø"/>
            </a:pPr>
            <a:endParaRPr lang="en-US" dirty="0">
              <a:latin typeface="Calibri" panose="020F0502020204030204" pitchFamily="34" charset="0"/>
              <a:ea typeface="Calibri" panose="020F0502020204030204" pitchFamily="34" charset="0"/>
              <a:cs typeface="Calibri" panose="020F0502020204030204" pitchFamily="34" charset="0"/>
            </a:endParaRPr>
          </a:p>
          <a:p>
            <a:pPr lvl="0" algn="l" rtl="0">
              <a:spcBef>
                <a:spcPts val="0"/>
              </a:spcBef>
              <a:spcAft>
                <a:spcPts val="0"/>
              </a:spcAft>
              <a:buSzPts val="1300"/>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rPr>
              <a:t>A vast majority of clients have no credit in default, which could be indicative of the financial stability of the client base.</a:t>
            </a:r>
          </a:p>
          <a:p>
            <a:pPr lvl="0" algn="l" rtl="0">
              <a:spcBef>
                <a:spcPts val="0"/>
              </a:spcBef>
              <a:spcAft>
                <a:spcPts val="0"/>
              </a:spcAft>
              <a:buSzPts val="1300"/>
              <a:buFont typeface="Wingdings" panose="05000000000000000000" pitchFamily="2" charset="2"/>
              <a:buChar char="Ø"/>
            </a:pPr>
            <a:endParaRPr lang="en-US" dirty="0">
              <a:latin typeface="Calibri" panose="020F0502020204030204" pitchFamily="34" charset="0"/>
              <a:ea typeface="Calibri" panose="020F0502020204030204" pitchFamily="34" charset="0"/>
              <a:cs typeface="Calibri" panose="020F0502020204030204" pitchFamily="34" charset="0"/>
            </a:endParaRPr>
          </a:p>
          <a:p>
            <a:pPr lvl="0" algn="l" rtl="0">
              <a:spcBef>
                <a:spcPts val="0"/>
              </a:spcBef>
              <a:spcAft>
                <a:spcPts val="0"/>
              </a:spcAft>
              <a:buSzPts val="1300"/>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rPr>
              <a:t>Account balances vary significantly, with some clients in negative balance (minimum balance is -3313) and others having a balance as high as 71188, showing a wide disparity in customers' financial health.</a:t>
            </a:r>
          </a:p>
          <a:p>
            <a:pPr lvl="0" algn="l" rtl="0">
              <a:spcBef>
                <a:spcPts val="0"/>
              </a:spcBef>
              <a:spcAft>
                <a:spcPts val="0"/>
              </a:spcAft>
              <a:buSzPts val="1300"/>
              <a:buFont typeface="Wingdings" panose="05000000000000000000" pitchFamily="2" charset="2"/>
              <a:buChar char="Ø"/>
            </a:pPr>
            <a:endParaRPr lang="en-US" dirty="0">
              <a:latin typeface="Calibri" panose="020F0502020204030204" pitchFamily="34" charset="0"/>
              <a:ea typeface="Calibri" panose="020F0502020204030204" pitchFamily="34" charset="0"/>
              <a:cs typeface="Calibri" panose="020F0502020204030204" pitchFamily="34" charset="0"/>
            </a:endParaRPr>
          </a:p>
          <a:p>
            <a:pPr lvl="0" algn="l" rtl="0">
              <a:spcBef>
                <a:spcPts val="0"/>
              </a:spcBef>
              <a:spcAft>
                <a:spcPts val="0"/>
              </a:spcAft>
              <a:buSzPts val="1300"/>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rPr>
              <a:t>Most clients do not have a personal loan, and slightly more than half have a housing loan, suggesting potential opportunities for loan-related marketing strategies.</a:t>
            </a:r>
            <a:endParaRPr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19"/>
          <p:cNvSpPr txBox="1">
            <a:spLocks noGrp="1"/>
          </p:cNvSpPr>
          <p:nvPr>
            <p:ph type="title"/>
          </p:nvPr>
        </p:nvSpPr>
        <p:spPr>
          <a:xfrm>
            <a:off x="305250" y="565675"/>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Recommendations</a:t>
            </a:r>
            <a:endParaRPr/>
          </a:p>
        </p:txBody>
      </p:sp>
      <p:sp>
        <p:nvSpPr>
          <p:cNvPr id="122" name="Google Shape;122;p19"/>
          <p:cNvSpPr txBox="1">
            <a:spLocks noGrp="1"/>
          </p:cNvSpPr>
          <p:nvPr>
            <p:ph type="body" idx="1"/>
          </p:nvPr>
        </p:nvSpPr>
        <p:spPr>
          <a:xfrm>
            <a:off x="489950" y="1234450"/>
            <a:ext cx="7928100" cy="3105600"/>
          </a:xfrm>
          <a:prstGeom prst="rect">
            <a:avLst/>
          </a:prstGeom>
        </p:spPr>
        <p:txBody>
          <a:bodyPr spcFirstLastPara="1" wrap="square" lIns="91425" tIns="91425" rIns="91425" bIns="91425" anchor="t" anchorCtr="0">
            <a:normAutofit/>
          </a:bodyPr>
          <a:lstStyle/>
          <a:p>
            <a:pPr marL="285750" lvl="0" indent="-285750" algn="l" rtl="0">
              <a:spcBef>
                <a:spcPts val="0"/>
              </a:spcBef>
              <a:spcAft>
                <a:spcPts val="0"/>
              </a:spcAft>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rPr>
              <a:t>Focus marketing efforts on the most common demographic segments identified, such as middle-aged clients who are more likely to be in a stable financial position to consider term deposits. Tailoring marketing material to address the specific life stage needs of each age group may increase conversion rates.</a:t>
            </a:r>
          </a:p>
          <a:p>
            <a:pPr marL="342900" lvl="0" indent="-342900" algn="l" rtl="0">
              <a:spcBef>
                <a:spcPts val="0"/>
              </a:spcBef>
              <a:spcAft>
                <a:spcPts val="0"/>
              </a:spcAft>
              <a:buFont typeface="Wingdings" panose="05000000000000000000" pitchFamily="2" charset="2"/>
              <a:buChar char="Ø"/>
            </a:pPr>
            <a:endParaRPr lang="en-US" dirty="0">
              <a:latin typeface="Calibri" panose="020F0502020204030204" pitchFamily="34" charset="0"/>
              <a:ea typeface="Calibri" panose="020F0502020204030204" pitchFamily="34" charset="0"/>
              <a:cs typeface="Calibri" panose="020F0502020204030204" pitchFamily="34" charset="0"/>
            </a:endParaRPr>
          </a:p>
          <a:p>
            <a:pPr marL="285750" lvl="0" indent="-285750" algn="l" rtl="0">
              <a:spcBef>
                <a:spcPts val="0"/>
              </a:spcBef>
              <a:spcAft>
                <a:spcPts val="0"/>
              </a:spcAft>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rPr>
              <a:t>Use clustering techniques to segment the customer base into distinct groups based on their job, marital status, education, balance, and loan status. Customized marketing strategies for each segment could be more effective than a one-size-fits-all approach.</a:t>
            </a:r>
            <a:endParaRPr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Ion</Template>
  <TotalTime>11</TotalTime>
  <Words>836</Words>
  <Application>Microsoft Office PowerPoint</Application>
  <PresentationFormat>On-screen Show (16:9)</PresentationFormat>
  <Paragraphs>42</Paragraphs>
  <Slides>7</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Wingdings</vt:lpstr>
      <vt:lpstr>Wingdings 3</vt:lpstr>
      <vt:lpstr>Calibri</vt:lpstr>
      <vt:lpstr>Arial</vt:lpstr>
      <vt:lpstr>Century Gothic</vt:lpstr>
      <vt:lpstr>Ion</vt:lpstr>
      <vt:lpstr>Topic- Bank Marketing Group-3 Group members-         NINITA GEDDAM-G676G373        VIVEK GORANTLA-X249Z878        KARTHIK GOUD ERAPURAM-P934S966        AKSHITH KRISHNA JONNALAGADDA-R948H886               </vt:lpstr>
      <vt:lpstr>Title and Introduction</vt:lpstr>
      <vt:lpstr>Background</vt:lpstr>
      <vt:lpstr>Hypothesis</vt:lpstr>
      <vt:lpstr>METHODOLOGY</vt:lpstr>
      <vt:lpstr>Findings</vt:lpstr>
      <vt:lpstr>Recommendations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Topic- Bank Marketing Group-3 Group members-         NINITA GEDDAM-G676G373        VIVEK GORANTLA-X249Z878        KARTHIK GOUD ERAPURAM-P934S966        AKSHITH KRISHNA JONNALAGADDA-R948H886               </dc:title>
  <cp:lastModifiedBy>avi yarrapothu</cp:lastModifiedBy>
  <cp:revision>2</cp:revision>
  <dcterms:modified xsi:type="dcterms:W3CDTF">2023-11-13T05:04:24Z</dcterms:modified>
</cp:coreProperties>
</file>